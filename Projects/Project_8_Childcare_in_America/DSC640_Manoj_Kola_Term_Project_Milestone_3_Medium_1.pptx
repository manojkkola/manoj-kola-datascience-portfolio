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009999"/>
    <a:srgbClr val="008080"/>
    <a:srgbClr val="006666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CB Infant</c:v>
                </c:pt>
              </c:strCache>
            </c:strRef>
          </c:tx>
          <c:spPr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146.69999999999999</c:v>
                </c:pt>
                <c:pt idx="1">
                  <c:v>146.9</c:v>
                </c:pt>
                <c:pt idx="2">
                  <c:v>148</c:v>
                </c:pt>
                <c:pt idx="3">
                  <c:v>153.80000000000001</c:v>
                </c:pt>
                <c:pt idx="4">
                  <c:v>162.1</c:v>
                </c:pt>
                <c:pt idx="5">
                  <c:v>165</c:v>
                </c:pt>
                <c:pt idx="6">
                  <c:v>167.8</c:v>
                </c:pt>
                <c:pt idx="7">
                  <c:v>170.8</c:v>
                </c:pt>
                <c:pt idx="8">
                  <c:v>169.6</c:v>
                </c:pt>
                <c:pt idx="9">
                  <c:v>176.2</c:v>
                </c:pt>
                <c:pt idx="10">
                  <c:v>187.6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D3-47CD-AC7D-6308449CFF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CB Toddler</c:v>
                </c:pt>
              </c:strCache>
            </c:strRef>
          </c:tx>
          <c:spPr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131.6</c:v>
                </c:pt>
                <c:pt idx="1">
                  <c:v>131</c:v>
                </c:pt>
                <c:pt idx="2">
                  <c:v>131.5</c:v>
                </c:pt>
                <c:pt idx="3">
                  <c:v>138.19999999999999</c:v>
                </c:pt>
                <c:pt idx="4">
                  <c:v>146.4</c:v>
                </c:pt>
                <c:pt idx="5">
                  <c:v>148.80000000000001</c:v>
                </c:pt>
                <c:pt idx="6">
                  <c:v>151.4</c:v>
                </c:pt>
                <c:pt idx="7">
                  <c:v>154</c:v>
                </c:pt>
                <c:pt idx="8">
                  <c:v>153.30000000000001</c:v>
                </c:pt>
                <c:pt idx="9">
                  <c:v>159.4</c:v>
                </c:pt>
                <c:pt idx="10">
                  <c:v>170.3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D3-47CD-AC7D-6308449CFF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CB Preschool</c:v>
                </c:pt>
              </c:strCache>
            </c:strRef>
          </c:tx>
          <c:spPr>
            <a:ln w="31750" cap="flat">
              <a:solidFill>
                <a:srgbClr val="0D5C6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5C63"/>
              </a:solidFill>
              <a:ln w="9525" cap="flat">
                <a:solidFill>
                  <a:srgbClr val="0D5C63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120.3</c:v>
                </c:pt>
                <c:pt idx="1">
                  <c:v>121.3</c:v>
                </c:pt>
                <c:pt idx="2">
                  <c:v>122.2</c:v>
                </c:pt>
                <c:pt idx="3">
                  <c:v>127</c:v>
                </c:pt>
                <c:pt idx="4">
                  <c:v>133</c:v>
                </c:pt>
                <c:pt idx="5">
                  <c:v>135.1</c:v>
                </c:pt>
                <c:pt idx="6">
                  <c:v>138.1</c:v>
                </c:pt>
                <c:pt idx="7">
                  <c:v>140</c:v>
                </c:pt>
                <c:pt idx="8">
                  <c:v>141</c:v>
                </c:pt>
                <c:pt idx="9">
                  <c:v>145</c:v>
                </c:pt>
                <c:pt idx="10">
                  <c:v>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D3-47CD-AC7D-6308449CFFD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FCC Infant</c:v>
                </c:pt>
              </c:strCache>
            </c:strRef>
          </c:tx>
          <c:spPr>
            <a:ln w="31750" cap="flat">
              <a:solidFill>
                <a:srgbClr val="A8DAD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8DADC"/>
              </a:solidFill>
              <a:ln w="9525" cap="flat">
                <a:solidFill>
                  <a:srgbClr val="A8DADC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114.1</c:v>
                </c:pt>
                <c:pt idx="1">
                  <c:v>114.4</c:v>
                </c:pt>
                <c:pt idx="2">
                  <c:v>113.6</c:v>
                </c:pt>
                <c:pt idx="3">
                  <c:v>116.7</c:v>
                </c:pt>
                <c:pt idx="4">
                  <c:v>122</c:v>
                </c:pt>
                <c:pt idx="5">
                  <c:v>123.3</c:v>
                </c:pt>
                <c:pt idx="6">
                  <c:v>124.4</c:v>
                </c:pt>
                <c:pt idx="7">
                  <c:v>126.8</c:v>
                </c:pt>
                <c:pt idx="8">
                  <c:v>127.8</c:v>
                </c:pt>
                <c:pt idx="9">
                  <c:v>132.5</c:v>
                </c:pt>
                <c:pt idx="10">
                  <c:v>139.69999999999999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9D3-47CD-AC7D-6308449CF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Cost ($/wk)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47-4E08-9C84-97FCD9EC7959}"/>
              </c:ext>
            </c:extLst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47-4E08-9C84-97FCD9EC7959}"/>
              </c:ext>
            </c:extLst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47-4E08-9C84-97FCD9EC7959}"/>
              </c:ext>
            </c:extLst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47-4E08-9C84-97FCD9EC7959}"/>
              </c:ext>
            </c:extLst>
          </c:dPt>
          <c:dPt>
            <c:idx val="4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747-4E08-9C84-97FCD9EC7959}"/>
              </c:ext>
            </c:extLst>
          </c:dPt>
          <c:dPt>
            <c:idx val="5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747-4E08-9C84-97FCD9EC7959}"/>
              </c:ext>
            </c:extLst>
          </c:dPt>
          <c:dPt>
            <c:idx val="6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747-4E08-9C84-97FCD9EC7959}"/>
              </c:ext>
            </c:extLst>
          </c:dPt>
          <c:dPt>
            <c:idx val="7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747-4E08-9C84-97FCD9EC7959}"/>
              </c:ext>
            </c:extLst>
          </c:dPt>
          <c:dPt>
            <c:idx val="8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747-4E08-9C84-97FCD9EC7959}"/>
              </c:ext>
            </c:extLst>
          </c:dPt>
          <c:dPt>
            <c:idx val="9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747-4E08-9C84-97FCD9EC7959}"/>
              </c:ext>
            </c:extLst>
          </c:dPt>
          <c:dPt>
            <c:idx val="1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747-4E08-9C84-97FCD9EC7959}"/>
              </c:ext>
            </c:extLst>
          </c:dPt>
          <c:dPt>
            <c:idx val="1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4747-4E08-9C84-97FCD9EC7959}"/>
              </c:ext>
            </c:extLst>
          </c:dPt>
          <c:dPt>
            <c:idx val="1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4747-4E08-9C84-97FCD9EC7959}"/>
              </c:ext>
            </c:extLst>
          </c:dPt>
          <c:dPt>
            <c:idx val="1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4747-4E08-9C84-97FCD9EC7959}"/>
              </c:ext>
            </c:extLst>
          </c:dPt>
          <c:dPt>
            <c:idx val="14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4747-4E08-9C84-97FCD9EC7959}"/>
              </c:ext>
            </c:extLst>
          </c:dPt>
          <c:dPt>
            <c:idx val="15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4747-4E08-9C84-97FCD9EC7959}"/>
              </c:ext>
            </c:extLst>
          </c:dPt>
          <c:dPt>
            <c:idx val="16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4747-4E08-9C84-97FCD9EC7959}"/>
              </c:ext>
            </c:extLst>
          </c:dPt>
          <c:dPt>
            <c:idx val="17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4747-4E08-9C84-97FCD9EC7959}"/>
              </c:ext>
            </c:extLst>
          </c:dPt>
          <c:dPt>
            <c:idx val="18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4747-4E08-9C84-97FCD9EC7959}"/>
              </c:ext>
            </c:extLst>
          </c:dPt>
          <c:dPt>
            <c:idx val="19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4747-4E08-9C84-97FCD9EC7959}"/>
              </c:ext>
            </c:extLst>
          </c:dPt>
          <c:dPt>
            <c:idx val="20"/>
            <c:invertIfNegative val="0"/>
            <c:bubble3D val="0"/>
            <c:spPr>
              <a:solidFill>
                <a:srgbClr val="A8DA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4747-4E08-9C84-97FCD9EC7959}"/>
              </c:ext>
            </c:extLst>
          </c:dPt>
          <c:dPt>
            <c:idx val="21"/>
            <c:invertIfNegative val="0"/>
            <c:bubble3D val="0"/>
            <c:spPr>
              <a:solidFill>
                <a:srgbClr val="A8DA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4747-4E08-9C84-97FCD9EC795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Sheet1!$A$2:$A$23</c:f>
              <c:strCache>
                <c:ptCount val="22"/>
                <c:pt idx="0">
                  <c:v>HI</c:v>
                </c:pt>
                <c:pt idx="1">
                  <c:v>CT</c:v>
                </c:pt>
                <c:pt idx="2">
                  <c:v>RI</c:v>
                </c:pt>
                <c:pt idx="3">
                  <c:v>NJ</c:v>
                </c:pt>
                <c:pt idx="4">
                  <c:v>WA</c:v>
                </c:pt>
                <c:pt idx="5">
                  <c:v>VT</c:v>
                </c:pt>
                <c:pt idx="6">
                  <c:v>MN</c:v>
                </c:pt>
                <c:pt idx="7">
                  <c:v>MA</c:v>
                </c:pt>
                <c:pt idx="8">
                  <c:v>NY</c:v>
                </c:pt>
                <c:pt idx="9">
                  <c:v>CA</c:v>
                </c:pt>
                <c:pt idx="10">
                  <c:v>IL</c:v>
                </c:pt>
                <c:pt idx="11">
                  <c:v>OR</c:v>
                </c:pt>
                <c:pt idx="12">
                  <c:v>AZ</c:v>
                </c:pt>
                <c:pt idx="13">
                  <c:v>NV</c:v>
                </c:pt>
                <c:pt idx="14">
                  <c:v>GA</c:v>
                </c:pt>
                <c:pt idx="15">
                  <c:v>TX</c:v>
                </c:pt>
                <c:pt idx="16">
                  <c:v>OK</c:v>
                </c:pt>
                <c:pt idx="17">
                  <c:v>SC</c:v>
                </c:pt>
                <c:pt idx="18">
                  <c:v>ID</c:v>
                </c:pt>
                <c:pt idx="19">
                  <c:v>AL</c:v>
                </c:pt>
                <c:pt idx="20">
                  <c:v>AR</c:v>
                </c:pt>
                <c:pt idx="21">
                  <c:v>MS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338</c:v>
                </c:pt>
                <c:pt idx="1">
                  <c:v>277</c:v>
                </c:pt>
                <c:pt idx="2">
                  <c:v>264</c:v>
                </c:pt>
                <c:pt idx="3">
                  <c:v>242</c:v>
                </c:pt>
                <c:pt idx="4">
                  <c:v>233</c:v>
                </c:pt>
                <c:pt idx="5">
                  <c:v>227</c:v>
                </c:pt>
                <c:pt idx="6">
                  <c:v>204</c:v>
                </c:pt>
                <c:pt idx="7">
                  <c:v>200</c:v>
                </c:pt>
                <c:pt idx="8">
                  <c:v>196</c:v>
                </c:pt>
                <c:pt idx="9">
                  <c:v>193</c:v>
                </c:pt>
                <c:pt idx="10">
                  <c:v>186</c:v>
                </c:pt>
                <c:pt idx="11">
                  <c:v>183</c:v>
                </c:pt>
                <c:pt idx="12">
                  <c:v>178</c:v>
                </c:pt>
                <c:pt idx="13">
                  <c:v>188</c:v>
                </c:pt>
                <c:pt idx="14">
                  <c:v>155</c:v>
                </c:pt>
                <c:pt idx="15">
                  <c:v>142</c:v>
                </c:pt>
                <c:pt idx="16">
                  <c:v>149</c:v>
                </c:pt>
                <c:pt idx="17">
                  <c:v>138</c:v>
                </c:pt>
                <c:pt idx="18">
                  <c:v>130</c:v>
                </c:pt>
                <c:pt idx="19">
                  <c:v>118</c:v>
                </c:pt>
                <c:pt idx="20">
                  <c:v>109</c:v>
                </c:pt>
                <c:pt idx="2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C-4747-4E08-9C84-97FCD9EC79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74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Rising Cost of</a:t>
            </a:r>
            <a:endParaRPr lang="en-US" sz="3800" dirty="0">
              <a:solidFill>
                <a:srgbClr val="008080"/>
              </a:solidFill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in America</a:t>
            </a:r>
            <a:endParaRPr lang="en-US" sz="3800" dirty="0">
              <a:solidFill>
                <a:srgbClr val="00808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175217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of the National Database of Childcare Prices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(NDCP, 2008–2018)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2581" y="2972741"/>
            <a:ext cx="5096022" cy="414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Manoj K Kola  |  </a:t>
            </a:r>
            <a:r>
              <a:rPr lang="en-US" sz="1200" dirty="0">
                <a:solidFill>
                  <a:srgbClr val="33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640 — Data Presentation &amp; Visualization  |  Milestone 3</a:t>
            </a:r>
            <a:endParaRPr lang="en-US" sz="1200" dirty="0">
              <a:solidFill>
                <a:srgbClr val="33CCCC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3749040"/>
            <a:ext cx="210312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822192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$9,755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4310116"/>
            <a:ext cx="2103120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CB infant care 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(national avg, 2018)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3749040"/>
            <a:ext cx="210312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3822192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4310116"/>
            <a:ext cx="2103120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 increase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→ 2018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3749040"/>
            <a:ext cx="210312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3822192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983480" y="4310116"/>
            <a:ext cx="2103120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over same period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54864"/>
            <a:ext cx="1645920" cy="508863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2194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2008–2018</a:t>
            </a:r>
            <a:endParaRPr lang="en-US" sz="11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F9BFE6A-572B-0676-9D5B-E3273BA815E7}"/>
              </a:ext>
            </a:extLst>
          </p:cNvPr>
          <p:cNvSpPr/>
          <p:nvPr/>
        </p:nvSpPr>
        <p:spPr>
          <a:xfrm>
            <a:off x="548639" y="2935749"/>
            <a:ext cx="4863905" cy="4571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Database of Childcare Prices (NDCP), U.S. DOL Women's Bureau — county-level, 2008–2018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72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Women's Bureau / National Database of Childcare Prices (NDCP)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2039112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276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2008–2018 — 11 years, county-level across all 50 states + D.C.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43784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Types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081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Center-Based (CB) and Family/Home Care (FCC)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648456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648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886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· Toddler · Preschool · School-Age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70432"/>
            <a:ext cx="3886200" cy="3493008"/>
          </a:xfrm>
          <a:prstGeom prst="rect">
            <a:avLst/>
          </a:prstGeom>
          <a:solidFill>
            <a:srgbClr val="F4F8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2984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 Analyzed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6916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MCInfant / MFCCInfant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8836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weekly cost — Infant (0–23 mo.)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21762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MCToddler / MFCCToddler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3682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weekly cost — Toddler (24–35 mo.)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0" y="26609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MCPreschool / MFCCPreschool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8529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weekly cost — Preschool (36–54 mo.)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0" y="314553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3375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 (county-level)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0" y="36301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AnnualCost_CBInfant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8221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MCInfant × 52 — derived annual cost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0" y="41148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PctIncome_Infant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43068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AnnualCost_CBInfant ÷ MHI × 100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Cost Trends Over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average weekly costs, all care types (2008–2018)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097280"/>
          <a:ext cx="5943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143000"/>
            <a:ext cx="2148840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83680" y="119786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0" y="1691640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Center-based infant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increase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→ 2018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0" y="2404872"/>
            <a:ext cx="21488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0" y="24597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583680" y="295351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same period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83680" y="3666744"/>
            <a:ext cx="2148840" cy="10972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0" y="37216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~$48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583680" y="4215384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CB vs. FCC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care gap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(2018)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Cost Disparities (2018)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46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weekly center-based infant care cost — selected states, sorted by cost tier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28180188"/>
              </p:ext>
            </p:extLst>
          </p:nvPr>
        </p:nvGraphicFramePr>
        <p:xfrm>
          <a:off x="379476" y="970671"/>
          <a:ext cx="8321040" cy="358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6918" y="4605411"/>
            <a:ext cx="164592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5518" y="460541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783080" y="461772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993392" y="46085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Mid-Cost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54680" y="4617720"/>
            <a:ext cx="164592" cy="164592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64992" y="46085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Affordability Burden by State Group (2008–2018)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95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infant care cost as % of median household income — High-Cost, Mid-Cost, and Low-Cost state groups vs. HHS 7% affordability threshold.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733" y="1170432"/>
            <a:ext cx="5276534" cy="36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Growth Index by Care Type &amp; Age Group (2008–2018)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95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care type × age group combinations indexed to 2008=100. Solid lines = center-based; dashed = family/home-based. Toddler CB rose fastest at +29.4%.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905" y="1170432"/>
            <a:ext cx="6098189" cy="36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CB vs. FCC Care Cost Gap by Age Group (2008–2018)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95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difference (CB minus FCC) for each age group. The infant gap grew from $32/wk in 2008 to $48/wk in 2018 — both types still rising in tandem.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7" y="1170432"/>
            <a:ext cx="7946126" cy="36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Affordability Rankings: CB Infant Care as % of Income (2018)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95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 and lowest-burden states ranked by annual CB infant cost as % of median HH income. All states exceed HHS’s 7% affordability threshold — even the “low-cost” group.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7" y="1170432"/>
            <a:ext cx="7946126" cy="36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derived from NDCP 2008–2018 analysis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023360" cy="1664208"/>
          </a:xfrm>
          <a:prstGeom prst="rect">
            <a:avLst/>
          </a:prstGeom>
          <a:solidFill>
            <a:srgbClr val="F4F8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8408" y="1325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Rising Faster Than Income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767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infant care rose ~28% nationally (2008–2018): $146.7 → $187.6/week. Median household income grew only ~21% — families lost ground on affordability every year after 2011.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99232"/>
            <a:ext cx="40233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31363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Care Costs ~$48/wk More Than FCC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3767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infant care averaged $187.6/week vs. $139.7/week for FCC infant care in 2018 — a $48 gap. Both tracks follow the same upward trajectory, indicating systemic rather than provider-specific cost drivers.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23360" cy="1664208"/>
          </a:xfrm>
          <a:prstGeom prst="rect">
            <a:avLst/>
          </a:prstGeom>
          <a:solidFill>
            <a:srgbClr val="F4F8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132588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30368" y="1325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Disparities Are Large &amp; Growing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737360"/>
            <a:ext cx="3767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Hawaii ($338/wk) and Connecticut ($277/wk) lead nationally; Mississippi ($70/wk) is the lowest. The widening box-plot spread post-2013 confirms growing state-level divergence.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999232"/>
            <a:ext cx="40233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3136392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31363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Toddler Care Saw the Steepest Growth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547872"/>
            <a:ext cx="3767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Toddler CB care rose +29.4% (2008–2018), outpacing infant (+27.9%) and preschool (+28.0%) — the 24–35 month age group is becoming a critical pressure point requiring targeted policy attention.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Families &amp; the Broader Economy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955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affordability affects labor supply, gender equity, and economic growth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2743200" cy="141732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share of median HH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spent on CB infant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(national, 2018)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19272" y="1207008"/>
            <a:ext cx="2743200" cy="141732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19272" y="12435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19272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report changing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or hours due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costs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27064" y="1207008"/>
            <a:ext cx="2743200" cy="141732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7064" y="12435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27064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loss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gaps (CED)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8163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Women's Labor Force Participation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09067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Unaffordable childcare keeps women — especially single mothers and lower-income earners — out of the labor force, reducing household income and tax revenue.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82312" y="28163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Gender Pay Gap Amplification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82312" y="309067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who reduce work hours or exit jobs for caregiving lose career trajectory, seniority, and retirement savings at disproportionate rates.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8679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Business Productivity &amp; Retention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1422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report increased absenteeism, turnover, and recruitment costs when employees lack reliable childcare access.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82312" y="38679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Child Development Outcomes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82312" y="41422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access to quality early care is correlated with weaker cognitive and social outcomes, increasing long-term public costs in education and social services.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 | CED (Committee for Economic Development) |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Call to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priorities informed by the NDCP analysis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5303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24128" y="1170432"/>
            <a:ext cx="7708392" cy="713232"/>
          </a:xfrm>
          <a:prstGeom prst="rect">
            <a:avLst/>
          </a:prstGeom>
          <a:solidFill>
            <a:srgbClr val="F4F8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5568" y="12252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Childcare Subsidy Programs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4721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CCDBG funding and eligibility thresholds to cover families earning up to 150% of the state median income — prioritizing high-cost-state families where costs exceed 20% of household income.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066544"/>
            <a:ext cx="5303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24128" y="2066544"/>
            <a:ext cx="770839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5568" y="212140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Cost Transparency Requirements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3682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annual public reporting of childcare costs by county, enabling families and policymakers to benchmark local markets against state and national averages.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62656"/>
            <a:ext cx="5303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62656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24128" y="2962656"/>
            <a:ext cx="7708392" cy="713232"/>
          </a:xfrm>
          <a:prstGeom prst="rect">
            <a:avLst/>
          </a:prstGeom>
          <a:solidFill>
            <a:srgbClr val="F4F8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5568" y="3017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Provider Wage Parity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2644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affordability–quality paradox: provider wages through wage supplements for certified early educators to improve supply without raising parent costs.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858768"/>
            <a:ext cx="5303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858768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24128" y="3858768"/>
            <a:ext cx="770839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5568" y="391363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Employer-Sponsored Childcare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enhanced tax credits to businesses that provide on-site childcare, FSA expansion, or childcare referral programs for employees.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6725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childcare is economic infrastructure. Every $1 invested in early childhood returns $7–$13 in long-term economic value. (Heckman, 2013)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1121</Words>
  <Application>Microsoft Office PowerPoint</Application>
  <PresentationFormat>On-screen Show (16:9)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Rising Cost of Childcare in America</dc:title>
  <dc:subject>PptxGenJS Presentation</dc:subject>
  <dc:creator>Manoj K Kola</dc:creator>
  <cp:lastModifiedBy>manojkumar kola</cp:lastModifiedBy>
  <cp:revision>3</cp:revision>
  <dcterms:created xsi:type="dcterms:W3CDTF">2026-04-24T05:33:02Z</dcterms:created>
  <dcterms:modified xsi:type="dcterms:W3CDTF">2026-04-24T05:43:30Z</dcterms:modified>
</cp:coreProperties>
</file>