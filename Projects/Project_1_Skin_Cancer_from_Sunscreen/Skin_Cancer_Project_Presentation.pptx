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notesMasterIdLst>
    <p:notesMasterId r:id="rId14"/>
  </p:notesMasterIdLst>
  <p:sldIdLst>
    <p:sldId id="256" r:id="rId2"/>
    <p:sldId id="260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7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2A6F-D033-48EA-9978-E8D94582911C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52D52-C247-427A-9A75-CFE3B4ADCA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7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logo_Widescreen_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43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19522" y="3787750"/>
            <a:ext cx="6258076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38653" y="1583982"/>
            <a:ext cx="6258076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7333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1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32858"/>
            <a:ext cx="10972800" cy="4296457"/>
          </a:xfrm>
          <a:prstGeom prst="rect">
            <a:avLst/>
          </a:prstGeom>
        </p:spPr>
        <p:txBody>
          <a:bodyPr/>
          <a:lstStyle>
            <a:lvl1pPr>
              <a:defRPr sz="4267">
                <a:latin typeface=""/>
              </a:defRPr>
            </a:lvl1pPr>
            <a:lvl2pPr>
              <a:defRPr sz="3733">
                <a:latin typeface=""/>
              </a:defRPr>
            </a:lvl2pPr>
            <a:lvl3pPr>
              <a:defRPr sz="3200">
                <a:latin typeface=""/>
              </a:defRPr>
            </a:lvl3pPr>
            <a:lvl4pPr>
              <a:defRPr sz="2667">
                <a:latin typeface=""/>
              </a:defRPr>
            </a:lvl4pPr>
            <a:lvl5pPr>
              <a:defRPr sz="2667">
                <a:latin typeface="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45443"/>
            <a:ext cx="10972800" cy="969467"/>
          </a:xfrm>
        </p:spPr>
        <p:txBody>
          <a:bodyPr anchor="b">
            <a:normAutofit/>
          </a:bodyPr>
          <a:lstStyle>
            <a:lvl1pPr algn="l">
              <a:defRPr sz="5867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8132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5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45443"/>
            <a:ext cx="10972800" cy="969467"/>
          </a:xfrm>
        </p:spPr>
        <p:txBody>
          <a:bodyPr anchor="b">
            <a:normAutofit/>
          </a:bodyPr>
          <a:lstStyle>
            <a:lvl1pPr algn="l">
              <a:defRPr sz="5867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132074"/>
            <a:ext cx="10972800" cy="387263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632858"/>
            <a:ext cx="10972800" cy="4296457"/>
          </a:xfrm>
          <a:prstGeom prst="rect">
            <a:avLst/>
          </a:prstGeom>
        </p:spPr>
        <p:txBody>
          <a:bodyPr/>
          <a:lstStyle>
            <a:lvl1pPr>
              <a:defRPr sz="4267">
                <a:latin typeface=""/>
              </a:defRPr>
            </a:lvl1pPr>
            <a:lvl2pPr>
              <a:defRPr sz="3733">
                <a:latin typeface=""/>
              </a:defRPr>
            </a:lvl2pPr>
            <a:lvl3pPr>
              <a:defRPr sz="3200">
                <a:latin typeface=""/>
              </a:defRPr>
            </a:lvl3pPr>
            <a:lvl4pPr>
              <a:defRPr sz="2667">
                <a:latin typeface=""/>
              </a:defRPr>
            </a:lvl4pPr>
            <a:lvl5pPr>
              <a:defRPr sz="2667">
                <a:latin typeface="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43526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6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3796" y="6365218"/>
            <a:ext cx="2844800" cy="365125"/>
          </a:xfrm>
        </p:spPr>
        <p:txBody>
          <a:bodyPr/>
          <a:lstStyle>
            <a:lvl1pPr algn="l">
              <a:defRPr/>
            </a:lvl1pPr>
          </a:lstStyle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5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 marL="0" algn="l" defTabSz="609585" rtl="0" eaLnBrk="0" fontAlgn="base" latinLnBrk="0" hangingPunct="0">
              <a:spcBef>
                <a:spcPct val="0"/>
              </a:spcBef>
              <a:spcAft>
                <a:spcPct val="0"/>
              </a:spcAft>
              <a:defRPr lang="en-US" sz="5867" b="0" i="0" kern="1200" baseline="0" dirty="0">
                <a:solidFill>
                  <a:srgbClr val="533F7E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>
                <a:latin typeface="Arial"/>
              </a:defRPr>
            </a:lvl1pPr>
            <a:lvl2pPr>
              <a:defRPr sz="3200">
                <a:latin typeface="Arial"/>
              </a:defRPr>
            </a:lvl2pPr>
            <a:lvl3pPr>
              <a:defRPr sz="2667">
                <a:latin typeface="Arial"/>
              </a:defRPr>
            </a:lvl3pPr>
            <a:lvl4pPr>
              <a:defRPr sz="2400">
                <a:latin typeface="Arial"/>
              </a:defRPr>
            </a:lvl4pPr>
            <a:lvl5pPr>
              <a:defRPr sz="2400">
                <a:latin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>
                <a:latin typeface="Arial"/>
              </a:defRPr>
            </a:lvl1pPr>
            <a:lvl2pPr>
              <a:defRPr sz="3200">
                <a:latin typeface="Arial"/>
              </a:defRPr>
            </a:lvl2pPr>
            <a:lvl3pPr>
              <a:defRPr sz="2667">
                <a:latin typeface="Arial"/>
              </a:defRPr>
            </a:lvl3pPr>
            <a:lvl4pPr>
              <a:defRPr sz="2400">
                <a:latin typeface="Arial"/>
              </a:defRPr>
            </a:lvl4pPr>
            <a:lvl5pPr>
              <a:defRPr sz="2400">
                <a:latin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8132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9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667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133">
                <a:latin typeface=""/>
              </a:defRPr>
            </a:lvl4pPr>
            <a:lvl5pPr>
              <a:defRPr sz="2133">
                <a:latin typeface="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latin typeface="Arial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667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133">
                <a:latin typeface="Arial"/>
              </a:defRPr>
            </a:lvl4pPr>
            <a:lvl5pPr>
              <a:defRPr sz="2133">
                <a:latin typeface="Arial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8132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8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_logo_Widescreen_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4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19523" y="2564887"/>
            <a:ext cx="6258076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7333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33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783404" y="6356351"/>
            <a:ext cx="2844800" cy="365125"/>
          </a:xfrm>
        </p:spPr>
        <p:txBody>
          <a:bodyPr/>
          <a:lstStyle/>
          <a:p>
            <a:fld id="{00595005-D898-47F7-828F-CD63C4D0BC0B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9257" y="6356351"/>
            <a:ext cx="2844800" cy="365125"/>
          </a:xfrm>
        </p:spPr>
        <p:txBody>
          <a:bodyPr/>
          <a:lstStyle>
            <a:lvl1pPr algn="l">
              <a:defRPr/>
            </a:lvl1pPr>
          </a:lstStyle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3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>
                <a:latin typeface="Arial"/>
              </a:defRPr>
            </a:lvl1pPr>
            <a:lvl2pPr>
              <a:defRPr sz="3733">
                <a:latin typeface="Arial"/>
              </a:defRPr>
            </a:lvl2pPr>
            <a:lvl3pPr>
              <a:defRPr sz="3200">
                <a:latin typeface="Arial"/>
              </a:defRPr>
            </a:lvl3pPr>
            <a:lvl4pPr>
              <a:defRPr sz="2667">
                <a:latin typeface="Arial"/>
              </a:defRPr>
            </a:lvl4pPr>
            <a:lvl5pPr>
              <a:defRPr sz="2667">
                <a:latin typeface="Arial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latin typeface="Arial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851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95005-D898-47F7-828F-CD63C4D0BC0B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ppt_seal_Widescreen_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8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4448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95005-D898-47F7-828F-CD63C4D0BC0B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ctr" defTabSz="609585" rtl="0" eaLnBrk="1" latinLnBrk="0" hangingPunct="1">
        <a:spcBef>
          <a:spcPct val="0"/>
        </a:spcBef>
        <a:buNone/>
        <a:defRPr lang="en-US" sz="5867" b="0" i="0" kern="1200" baseline="0" dirty="0">
          <a:solidFill>
            <a:srgbClr val="533F7E"/>
          </a:solidFill>
          <a:latin typeface="Arial"/>
          <a:ea typeface="ＭＳ Ｐゴシック" charset="0"/>
          <a:cs typeface="ＭＳ Ｐゴシック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rgbClr val="3B413F"/>
          </a:solidFill>
          <a:latin typeface="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rgbClr val="3B413F"/>
          </a:solidFill>
          <a:latin typeface="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B413F"/>
          </a:solidFill>
          <a:latin typeface="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rgbClr val="3B413F"/>
          </a:solidFill>
          <a:latin typeface="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rgbClr val="3B413F"/>
          </a:solidFill>
          <a:latin typeface="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hyperlink" Target="https://doi.org/10.1001/jama.2019.20747" TargetMode="External"/><Relationship Id="rId7" Type="http://schemas.openxmlformats.org/officeDocument/2006/relationships/hyperlink" Target="https://ec.europa.eu/healt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ewg.org/sunscreen/" TargetMode="External"/><Relationship Id="rId5" Type="http://schemas.openxmlformats.org/officeDocument/2006/relationships/hyperlink" Target="https://www.fda.gov/news-events" TargetMode="External"/><Relationship Id="rId4" Type="http://schemas.openxmlformats.org/officeDocument/2006/relationships/hyperlink" Target="https://doi.org/10.1289/ehp.01109239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090E-DE57-4606-AA86-BC4C9558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1" y="1625987"/>
            <a:ext cx="4011084" cy="2152910"/>
          </a:xfrm>
        </p:spPr>
        <p:txBody>
          <a:bodyPr wrap="square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Amasis MT Pro Black" panose="020F0502020204030204" pitchFamily="18" charset="0"/>
              </a:rPr>
              <a:t>Is Cancer from Sunscreen More Dangerous than Skin Cancer?</a:t>
            </a:r>
          </a:p>
        </p:txBody>
      </p:sp>
      <p:pic>
        <p:nvPicPr>
          <p:cNvPr id="4" name="Content Placeholder 3" descr="A close-up of a skin with a large blister&#10;&#10;AI-generated content may be incorrect.">
            <a:extLst>
              <a:ext uri="{FF2B5EF4-FFF2-40B4-BE49-F238E27FC236}">
                <a16:creationId xmlns:a16="http://schemas.microsoft.com/office/drawing/2014/main" id="{8668C0BD-EBF6-4825-8E6E-BAA55F6C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66733" y="311469"/>
            <a:ext cx="6815667" cy="577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E1A91B5-7AAB-4653-8A9F-0ED055E8B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890864"/>
            <a:ext cx="4011084" cy="2008911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masis MT Pro Black" panose="02040A04050005020304" pitchFamily="18" charset="0"/>
              </a:rPr>
              <a:t>Final Project Summary</a:t>
            </a:r>
          </a:p>
          <a:p>
            <a:pPr marL="0" indent="0" algn="r">
              <a:buNone/>
            </a:pPr>
            <a:br>
              <a:rPr lang="en-US" dirty="0">
                <a:latin typeface="Amasis MT Pro Black" panose="02040A04050005020304" pitchFamily="18" charset="0"/>
              </a:rPr>
            </a:br>
            <a:r>
              <a:rPr lang="en-US" sz="2000" b="1" dirty="0">
                <a:solidFill>
                  <a:srgbClr val="00B050"/>
                </a:solidFill>
                <a:latin typeface="Amasis MT Pro Black" panose="02040A04050005020304" pitchFamily="18" charset="0"/>
              </a:rPr>
              <a:t> - Manoj Kumar Kola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1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Background &amp; Purpose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pic>
        <p:nvPicPr>
          <p:cNvPr id="8" name="Picture 7" descr="Several skin diseases on a person&#10;&#10;AI-generated content may be incorrect.">
            <a:extLst>
              <a:ext uri="{FF2B5EF4-FFF2-40B4-BE49-F238E27FC236}">
                <a16:creationId xmlns:a16="http://schemas.microsoft.com/office/drawing/2014/main" id="{F751D9B5-A67E-CE6C-1B51-80257C2D0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14087"/>
            <a:ext cx="5384800" cy="3298190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C5957-07E8-4612-8BAC-1488BB3BF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Sunscreen is widely used to prevent skin cancer, especially Melanoma.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Concerns have arisen over chemical ingredients possibly being carcinogenic.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This project investigates whether sunscreen-induced cancer poses a greater threat than UV-induced skin cancer.</a:t>
            </a:r>
          </a:p>
          <a:p>
            <a:pPr>
              <a:lnSpc>
                <a:spcPct val="150000"/>
              </a:lnSpc>
            </a:pPr>
            <a:r>
              <a:rPr lang="en-US" sz="2100" b="1" kern="100" dirty="0">
                <a:effectLst/>
                <a:latin typeface="Amasis MT Pro Light" panose="02040304050005020304" pitchFamily="18" charset="0"/>
              </a:rPr>
              <a:t>We aim to uncover the proper balance of risk by challenging presumptions with a series of layered questions.</a:t>
            </a:r>
          </a:p>
          <a:p>
            <a:pPr>
              <a:lnSpc>
                <a:spcPct val="150000"/>
              </a:lnSpc>
            </a:pPr>
            <a:endParaRPr lang="en-US" sz="2100" b="1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>
                <a:latin typeface="Amasis MT Pro Black" panose="02040A04050005020304" pitchFamily="18" charset="0"/>
              </a:rPr>
              <a:t>Research Questions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860C6D-1A04-9863-353B-11A0A447B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100" b="1">
                <a:latin typeface="Amasis MT Pro Light" panose="02040304050005020304" pitchFamily="18" charset="0"/>
              </a:rPr>
              <a:t>What are the risks of skin cancer vs. sunscreen-induced cancer?</a:t>
            </a:r>
          </a:p>
          <a:p>
            <a:pPr>
              <a:lnSpc>
                <a:spcPct val="150000"/>
              </a:lnSpc>
            </a:pPr>
            <a:r>
              <a:rPr lang="en-US" sz="2100" b="1">
                <a:latin typeface="Amasis MT Pro Light" panose="02040304050005020304" pitchFamily="18" charset="0"/>
              </a:rPr>
              <a:t>What sunscreen ingredients are under scrutiny?</a:t>
            </a:r>
          </a:p>
          <a:p>
            <a:pPr>
              <a:lnSpc>
                <a:spcPct val="150000"/>
              </a:lnSpc>
            </a:pPr>
            <a:r>
              <a:rPr lang="en-US" sz="2100" b="1">
                <a:latin typeface="Amasis MT Pro Light" panose="02040304050005020304" pitchFamily="18" charset="0"/>
              </a:rPr>
              <a:t>Is there scientific or epidemiological evidence supporting these concerns?</a:t>
            </a:r>
          </a:p>
          <a:p>
            <a:pPr>
              <a:lnSpc>
                <a:spcPct val="150000"/>
              </a:lnSpc>
            </a:pPr>
            <a:r>
              <a:rPr lang="en-US" sz="2100" b="1">
                <a:latin typeface="Amasis MT Pro Light" panose="02040304050005020304" pitchFamily="18" charset="0"/>
              </a:rPr>
              <a:t>How does public perception reflect these concerns?</a:t>
            </a:r>
          </a:p>
          <a:p>
            <a:pPr>
              <a:lnSpc>
                <a:spcPct val="150000"/>
              </a:lnSpc>
            </a:pPr>
            <a:r>
              <a:rPr lang="en-US" sz="2100" b="1">
                <a:latin typeface="Amasis MT Pro Light" panose="02040304050005020304" pitchFamily="18" charset="0"/>
              </a:rPr>
              <a:t>What are the alternatives to chemical sunscreens?</a:t>
            </a:r>
          </a:p>
          <a:p>
            <a:pPr>
              <a:lnSpc>
                <a:spcPct val="150000"/>
              </a:lnSpc>
            </a:pPr>
            <a:r>
              <a:rPr lang="en-US" sz="2100" b="1">
                <a:latin typeface="Amasis MT Pro Light" panose="02040304050005020304" pitchFamily="18" charset="0"/>
              </a:rPr>
              <a:t>Are we measuring the right risks?</a:t>
            </a:r>
            <a:endParaRPr lang="en-US" sz="2100" b="1" dirty="0">
              <a:latin typeface="Amasis MT Pro Light" panose="02040304050005020304" pitchFamily="18" charset="0"/>
            </a:endParaRPr>
          </a:p>
        </p:txBody>
      </p:sp>
      <p:pic>
        <p:nvPicPr>
          <p:cNvPr id="1026" name="Picture 2" descr="Developing a research question: The key to a successful research project -  Research leap">
            <a:extLst>
              <a:ext uri="{FF2B5EF4-FFF2-40B4-BE49-F238E27FC236}">
                <a16:creationId xmlns:a16="http://schemas.microsoft.com/office/drawing/2014/main" id="{92C197F3-70D7-C935-FDB7-2F9028160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4400" y="1600201"/>
            <a:ext cx="5950129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Scientific Evidence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pic>
        <p:nvPicPr>
          <p:cNvPr id="2052" name="Picture 4" descr="Can Science Prove God Exists? | Faraday">
            <a:extLst>
              <a:ext uri="{FF2B5EF4-FFF2-40B4-BE49-F238E27FC236}">
                <a16:creationId xmlns:a16="http://schemas.microsoft.com/office/drawing/2014/main" id="{72FDA91D-6FD4-36F9-287B-BD94B745B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1" r="28715" b="-1"/>
          <a:stretch/>
        </p:blipFill>
        <p:spPr bwMode="auto">
          <a:xfrm>
            <a:off x="609600" y="1600201"/>
            <a:ext cx="538480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92B9B6-76EF-5155-8534-D39BED5C3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Amasis MT Pro Light" panose="02040304050005020304" pitchFamily="18" charset="0"/>
              </a:rPr>
              <a:t>Sunscreens contains chemical filters, such as oxybenzone and octinoxate, have been suspected as potentially contributing to cancer development.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masis MT Pro Light" panose="02040304050005020304" pitchFamily="18" charset="0"/>
              </a:rPr>
              <a:t>Studies show some sunscreen chemicals (e.g., oxybenzone) can enter the bloodstream.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masis MT Pro Light" panose="02040304050005020304" pitchFamily="18" charset="0"/>
              </a:rPr>
              <a:t>Animal tests suggest endocrine disruption, but human evidence is inconclusive.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masis MT Pro Light" panose="02040304050005020304" pitchFamily="18" charset="0"/>
              </a:rPr>
              <a:t>FDA has flagged several chemicals for further safety testing.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masis MT Pro Light" panose="02040304050005020304" pitchFamily="18" charset="0"/>
              </a:rPr>
              <a:t>Mineral sunscreens are generally considered safer.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Public Perception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02ADE1-5745-AF06-92C7-B093ABFA0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Google Trends data reveals increasing interest in the search term "sunscreen causing cancer" over the last ten years.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Spikes in search frequency align with news articles, media coverage but not actual case data.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Public concern often stems from the spread of misinformation or exaggerated media reports or unclear science.</a:t>
            </a:r>
          </a:p>
          <a:p>
            <a:pPr>
              <a:lnSpc>
                <a:spcPct val="150000"/>
              </a:lnSpc>
            </a:pPr>
            <a:endParaRPr lang="en-US" sz="2300" b="1" dirty="0">
              <a:latin typeface="Amasis MT Pro Light" panose="02040304050005020304" pitchFamily="18" charset="0"/>
            </a:endParaRPr>
          </a:p>
        </p:txBody>
      </p:sp>
      <p:pic>
        <p:nvPicPr>
          <p:cNvPr id="3074" name="Picture 2" descr="450+ Public Perception Stock Illustrations, Royalty-Free Vector Graphics &amp;  Clip Art - iStock | Crime public perception">
            <a:extLst>
              <a:ext uri="{FF2B5EF4-FFF2-40B4-BE49-F238E27FC236}">
                <a16:creationId xmlns:a16="http://schemas.microsoft.com/office/drawing/2014/main" id="{B32F27A4-58C0-237B-255F-E3BC23B22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9" r="28554" b="1"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Key Findings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pic>
        <p:nvPicPr>
          <p:cNvPr id="4098" name="Picture 2" descr="Key Findings Icon Clipart Image Isolated Stock Vector (Royalty Free)  2350220623 | Shutterstock">
            <a:extLst>
              <a:ext uri="{FF2B5EF4-FFF2-40B4-BE49-F238E27FC236}">
                <a16:creationId xmlns:a16="http://schemas.microsoft.com/office/drawing/2014/main" id="{4711BD7A-D4EF-C0E5-EA38-98146BC72C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47" b="12082"/>
          <a:stretch/>
        </p:blipFill>
        <p:spPr bwMode="auto">
          <a:xfrm>
            <a:off x="920635" y="1600201"/>
            <a:ext cx="476273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C3BF9-2D5B-2AF7-B212-22F492D3B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Sunscreen is effective in preventing melanoma and other UV-related skin cancers.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Certain chemical ingredients, particularly oxybenzone, warrant more in-depth safety reviews and possibly reformulation or restriction.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No definitive link between sunscreen use and human cancer has been found.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Mineral sunscreens offer a safer alternative for concerned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Ethical Considerations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7756F-FE29-8EAE-D4DD-44278427B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 fontScale="92500" lnSpcReduction="10000"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 Light" panose="02040304050005020304" pitchFamily="18" charset="0"/>
              </a:rPr>
              <a:t>Importance of transparency in labeling and ingredient safety.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 Light" panose="02040304050005020304" pitchFamily="18" charset="0"/>
              </a:rPr>
              <a:t>Ethical duty to protect vulnerable populations (e.g., children, pregnant women).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 Light" panose="02040304050005020304" pitchFamily="18" charset="0"/>
              </a:rPr>
              <a:t>Risk of public misinformation leading to sun avoidance or improper use.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 Light" panose="02040304050005020304" pitchFamily="18" charset="0"/>
              </a:rPr>
              <a:t>Ethical responsibility to counteract fear-driven narratives about sunscreen use.</a:t>
            </a:r>
          </a:p>
        </p:txBody>
      </p:sp>
      <p:pic>
        <p:nvPicPr>
          <p:cNvPr id="5122" name="Picture 2" descr="Ethical Considerations in Product Management">
            <a:extLst>
              <a:ext uri="{FF2B5EF4-FFF2-40B4-BE49-F238E27FC236}">
                <a16:creationId xmlns:a16="http://schemas.microsoft.com/office/drawing/2014/main" id="{5F1E31DB-86DE-7060-2514-A764C6449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4172" y="1731981"/>
            <a:ext cx="5792624" cy="416321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Challenges</a:t>
            </a:r>
          </a:p>
        </p:txBody>
      </p:sp>
      <p:pic>
        <p:nvPicPr>
          <p:cNvPr id="6148" name="Picture 4" descr="Top Challenges Higher Education Faced In 2018">
            <a:extLst>
              <a:ext uri="{FF2B5EF4-FFF2-40B4-BE49-F238E27FC236}">
                <a16:creationId xmlns:a16="http://schemas.microsoft.com/office/drawing/2014/main" id="{9B384C5F-501A-EE84-4074-33F0FD199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294" y="1524894"/>
            <a:ext cx="5588000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F3318-41E1-D5E6-73A6-9973E8173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 lnSpcReduction="10000"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 Light" panose="02040304050005020304" pitchFamily="18" charset="0"/>
              </a:rPr>
              <a:t>Lack of long-term human trials.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 Light" panose="02040304050005020304" pitchFamily="18" charset="0"/>
              </a:rPr>
              <a:t>Conflicting or limited data on chemical absorption.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 Light" panose="02040304050005020304" pitchFamily="18" charset="0"/>
              </a:rPr>
              <a:t>Public confusion is fueled by inconsistent messaging.</a:t>
            </a:r>
          </a:p>
          <a:p>
            <a:pPr marL="0" indent="0">
              <a:lnSpc>
                <a:spcPct val="150000"/>
              </a:lnSpc>
              <a:buClr>
                <a:srgbClr val="000000"/>
              </a:buClr>
              <a:buNone/>
            </a:pPr>
            <a:endParaRPr lang="en-US" sz="3200" b="1" dirty="0">
              <a:latin typeface="Amasis MT Pro Light" panose="02040304050005020304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3200" b="1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Opportunities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5F8B20-DA55-71BD-1C9D-A3FDC2F93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 fontScale="92500"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900" b="1" dirty="0">
                <a:latin typeface="Amasis MT Pro Light" panose="02040304050005020304" pitchFamily="18" charset="0"/>
              </a:rPr>
              <a:t>Develop safer, more effective formulations (e.g., improved mineral sunscreens).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900" b="1" dirty="0">
                <a:latin typeface="Amasis MT Pro Light" panose="02040304050005020304" pitchFamily="18" charset="0"/>
              </a:rPr>
              <a:t>Improved public education and labeling.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900" b="1" dirty="0">
                <a:latin typeface="Amasis MT Pro Light" panose="02040304050005020304" pitchFamily="18" charset="0"/>
              </a:rPr>
              <a:t>Enhance global regulatory alignment and labeling standards.</a:t>
            </a:r>
          </a:p>
        </p:txBody>
      </p:sp>
      <p:pic>
        <p:nvPicPr>
          <p:cNvPr id="7170" name="Picture 2" descr="People who have good opportunities when business Vector Image">
            <a:extLst>
              <a:ext uri="{FF2B5EF4-FFF2-40B4-BE49-F238E27FC236}">
                <a16:creationId xmlns:a16="http://schemas.microsoft.com/office/drawing/2014/main" id="{F9C144BC-0407-D418-47B7-F83A3D6EC5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80"/>
          <a:stretch/>
        </p:blipFill>
        <p:spPr bwMode="auto">
          <a:xfrm>
            <a:off x="6658985" y="1535653"/>
            <a:ext cx="4862456" cy="457507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masis MT Pro Black" panose="02040A04050005020304" pitchFamily="18" charset="0"/>
              </a:rPr>
              <a:t>Conclusion &amp; Recommendations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pic>
        <p:nvPicPr>
          <p:cNvPr id="8194" name="Picture 2" descr="Writing text showing Final Thoughts. Business concept for Conclusion  Summary Text Written on sticky note paper, wooden background marker folded  yellow Stock Photo - Alamy">
            <a:extLst>
              <a:ext uri="{FF2B5EF4-FFF2-40B4-BE49-F238E27FC236}">
                <a16:creationId xmlns:a16="http://schemas.microsoft.com/office/drawing/2014/main" id="{178AFB84-D816-D277-1639-2415D44B0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5" t="1" r="5075" b="9378"/>
          <a:stretch/>
        </p:blipFill>
        <p:spPr bwMode="auto">
          <a:xfrm>
            <a:off x="609600" y="1600202"/>
            <a:ext cx="5384800" cy="438105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FC20-D1EB-8851-F7DF-045EF1DB1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 fontScale="85000" lnSpcReduction="10000"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The question “</a:t>
            </a:r>
            <a:r>
              <a:rPr lang="en-US" sz="2100" b="1" i="1" dirty="0">
                <a:latin typeface="Amasis MT Pro Light" panose="02040304050005020304" pitchFamily="18" charset="0"/>
              </a:rPr>
              <a:t>Is cancer from sunscreen more dangerous than skin cancer?”</a:t>
            </a:r>
            <a:r>
              <a:rPr lang="en-US" sz="2100" b="1" dirty="0">
                <a:latin typeface="Amasis MT Pro Light" panose="02040304050005020304" pitchFamily="18" charset="0"/>
              </a:rPr>
              <a:t> may currently lean toward “</a:t>
            </a:r>
            <a:r>
              <a:rPr lang="en-US" sz="2100" b="1" i="1" dirty="0">
                <a:latin typeface="Amasis MT Pro Light" panose="02040304050005020304" pitchFamily="18" charset="0"/>
              </a:rPr>
              <a:t>NO</a:t>
            </a:r>
            <a:r>
              <a:rPr lang="en-US" sz="2100" b="1" dirty="0">
                <a:latin typeface="Amasis MT Pro Light" panose="02040304050005020304" pitchFamily="18" charset="0"/>
              </a:rPr>
              <a:t>” based on existing evidence.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Based on current evidence, skin cancer is a greater proven risk than sunscreen-induced cancer.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Promote informed sunscreen use and protective habits.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Encourage long-term studies and reformulations.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Maintain vigilance and transparency in sunscreen safety.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References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F72FED-F7E5-3868-518B-90F4582A5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masis MT Pro Light" panose="02040304050005020304" pitchFamily="18" charset="0"/>
              </a:rPr>
              <a:t>Matta, M. K., </a:t>
            </a:r>
            <a:r>
              <a:rPr lang="en-US" sz="1200" b="1" dirty="0" err="1">
                <a:latin typeface="Amasis MT Pro Light" panose="02040304050005020304" pitchFamily="18" charset="0"/>
              </a:rPr>
              <a:t>Zusterzeel</a:t>
            </a:r>
            <a:r>
              <a:rPr lang="en-US" sz="1200" b="1" dirty="0">
                <a:latin typeface="Amasis MT Pro Light" panose="02040304050005020304" pitchFamily="18" charset="0"/>
              </a:rPr>
              <a:t>, R., Pilli, N. R., Patel, V., Volpe, D. A., Florian, J., ... &amp; Bashaw, E. D. (2020). Effect of sunscreen application on plasma concentration of sunscreen active ingredients: A randomized clinical trial. JAMA, 323(3), 256–267. </a:t>
            </a:r>
            <a:r>
              <a:rPr lang="en-US" sz="1200" b="1" dirty="0">
                <a:latin typeface="Amasis MT Pro Light" panose="02040304050005020304" pitchFamily="18" charset="0"/>
                <a:hlinkClick r:id="rId3"/>
              </a:rPr>
              <a:t>https://doi.org/10.1001/jama.2019.20747</a:t>
            </a:r>
            <a:endParaRPr lang="en-US" sz="1200" b="1" dirty="0">
              <a:latin typeface="Amasis MT Pro Light" panose="020403040500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masis MT Pro Light" panose="02040304050005020304" pitchFamily="18" charset="0"/>
              </a:rPr>
              <a:t>Schlumpf, M., Cotton, B., Conscience, M., Haller, V., Steinmann, B., &amp; Lichtensteiger, W. (2001). In vitro and in vivo </a:t>
            </a:r>
            <a:r>
              <a:rPr lang="en-US" sz="1200" b="1" dirty="0" err="1">
                <a:latin typeface="Amasis MT Pro Light" panose="02040304050005020304" pitchFamily="18" charset="0"/>
              </a:rPr>
              <a:t>estrogenicity</a:t>
            </a:r>
            <a:r>
              <a:rPr lang="en-US" sz="1200" b="1" dirty="0">
                <a:latin typeface="Amasis MT Pro Light" panose="02040304050005020304" pitchFamily="18" charset="0"/>
              </a:rPr>
              <a:t> of UV screens. Environmental Health Perspectives, 109(3), 239–244. </a:t>
            </a:r>
            <a:r>
              <a:rPr lang="en-US" sz="1200" b="1" dirty="0">
                <a:latin typeface="Amasis MT Pro Light" panose="02040304050005020304" pitchFamily="18" charset="0"/>
                <a:hlinkClick r:id="rId4"/>
              </a:rPr>
              <a:t>https://doi.org/10.1289/ehp.01109239</a:t>
            </a:r>
            <a:endParaRPr lang="en-US" sz="1200" b="1" dirty="0">
              <a:latin typeface="Amasis MT Pro Light" panose="020403040500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masis MT Pro Light" panose="02040304050005020304" pitchFamily="18" charset="0"/>
              </a:rPr>
              <a:t>U.S. Food &amp; Drug Administration. (2019). FDA advances new proposed regulations to make sure that sunscreens are safe and effective. Retrieved from </a:t>
            </a:r>
            <a:r>
              <a:rPr lang="en-US" sz="1200" b="1" dirty="0">
                <a:latin typeface="Amasis MT Pro Light" panose="02040304050005020304" pitchFamily="18" charset="0"/>
                <a:hlinkClick r:id="rId5"/>
              </a:rPr>
              <a:t>https://www.fda.gov/news-events</a:t>
            </a:r>
            <a:endParaRPr lang="en-US" sz="1200" b="1" dirty="0">
              <a:latin typeface="Amasis MT Pro Light" panose="020403040500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masis MT Pro Light" panose="02040304050005020304" pitchFamily="18" charset="0"/>
              </a:rPr>
              <a:t>Environmental Working Group. (2021). EWG’s Guide to Sunscreens. Retrieved from </a:t>
            </a:r>
            <a:r>
              <a:rPr lang="en-US" sz="1200" b="1" dirty="0">
                <a:latin typeface="Amasis MT Pro Light" panose="02040304050005020304" pitchFamily="18" charset="0"/>
                <a:hlinkClick r:id="rId6"/>
              </a:rPr>
              <a:t>https://www.ewg.org/sunscreen/</a:t>
            </a:r>
            <a:endParaRPr lang="en-US" sz="1200" b="1" dirty="0">
              <a:latin typeface="Amasis MT Pro Light" panose="020403040500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masis MT Pro Light" panose="02040304050005020304" pitchFamily="18" charset="0"/>
              </a:rPr>
              <a:t>European Commission. (2020). Safety of sunscreen ingredients. Scientific Committee on Consumer Safety (SCCS). Retrieved from </a:t>
            </a:r>
            <a:r>
              <a:rPr lang="en-US" sz="1200" b="1" dirty="0">
                <a:latin typeface="Amasis MT Pro Light" panose="02040304050005020304" pitchFamily="18" charset="0"/>
                <a:hlinkClick r:id="rId7"/>
              </a:rPr>
              <a:t>https://ec.europa.eu/health</a:t>
            </a:r>
            <a:endParaRPr lang="en-US" sz="1200" b="1" dirty="0">
              <a:latin typeface="Amasis MT Pro Light" panose="02040304050005020304" pitchFamily="18" charset="0"/>
            </a:endParaRPr>
          </a:p>
        </p:txBody>
      </p:sp>
      <p:pic>
        <p:nvPicPr>
          <p:cNvPr id="9218" name="Picture 2" descr="Références De Cartes D'affaires De Conception Graphique Signe Concept  Illustration Clip Art Libres De Droits, Svg, Vecteurs Et Illustration.  Image 42290118">
            <a:extLst>
              <a:ext uri="{FF2B5EF4-FFF2-40B4-BE49-F238E27FC236}">
                <a16:creationId xmlns:a16="http://schemas.microsoft.com/office/drawing/2014/main" id="{707E93F6-68BC-CE61-8B48-4137BE329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" r="1149"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B1D0-5EA2-E3ED-8A79-09D9907B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Finally…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CC63841-438C-BCC6-BBD6-374A74AC1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6254" y="1731981"/>
            <a:ext cx="6134034" cy="43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05553"/>
      </p:ext>
    </p:extLst>
  </p:cSld>
  <p:clrMapOvr>
    <a:masterClrMapping/>
  </p:clrMapOvr>
</p:sld>
</file>

<file path=ppt/theme/theme1.xml><?xml version="1.0" encoding="utf-8"?>
<a:theme xmlns:a="http://schemas.openxmlformats.org/drawingml/2006/main" name="Bellevue PowerPoint Template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Bellevue PowerPoint Template (1)</Template>
  <TotalTime>700</TotalTime>
  <Words>708</Words>
  <Application>Microsoft Office PowerPoint</Application>
  <PresentationFormat>Widescreen</PresentationFormat>
  <Paragraphs>57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Amasis MT Pro Black</vt:lpstr>
      <vt:lpstr>Amasis MT Pro Light</vt:lpstr>
      <vt:lpstr>Arial</vt:lpstr>
      <vt:lpstr>Calibri</vt:lpstr>
      <vt:lpstr>Bellevue PowerPoint Template (1)</vt:lpstr>
      <vt:lpstr>Is Cancer from Sunscreen More Dangerous than Skin Cancer?</vt:lpstr>
      <vt:lpstr>Background &amp; Purpose</vt:lpstr>
      <vt:lpstr>Research Questions</vt:lpstr>
      <vt:lpstr>Scientific Evidence</vt:lpstr>
      <vt:lpstr>Public Perception</vt:lpstr>
      <vt:lpstr>Key Findings</vt:lpstr>
      <vt:lpstr>Ethical Considerations</vt:lpstr>
      <vt:lpstr>Challenges</vt:lpstr>
      <vt:lpstr>Opportunities</vt:lpstr>
      <vt:lpstr>Conclusion &amp; Recommendations</vt:lpstr>
      <vt:lpstr>References</vt:lpstr>
      <vt:lpstr>Finally…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510</dc:title>
  <dc:creator>Mike Eller</dc:creator>
  <cp:lastModifiedBy>manojkumar kola</cp:lastModifiedBy>
  <cp:revision>80</cp:revision>
  <dcterms:created xsi:type="dcterms:W3CDTF">2018-12-26T19:06:20Z</dcterms:created>
  <dcterms:modified xsi:type="dcterms:W3CDTF">2025-05-11T05:48:17Z</dcterms:modified>
</cp:coreProperties>
</file>