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notesMasterIdLst>
    <p:notesMasterId r:id="rId12"/>
  </p:notesMasterIdLst>
  <p:sldIdLst>
    <p:sldId id="256" r:id="rId2"/>
    <p:sldId id="260" r:id="rId3"/>
    <p:sldId id="262" r:id="rId4"/>
    <p:sldId id="261" r:id="rId5"/>
    <p:sldId id="263" r:id="rId6"/>
    <p:sldId id="264" r:id="rId7"/>
    <p:sldId id="265" r:id="rId8"/>
    <p:sldId id="266" r:id="rId9"/>
    <p:sldId id="268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91895" autoAdjust="0"/>
  </p:normalViewPr>
  <p:slideViewPr>
    <p:cSldViewPr snapToGrid="0">
      <p:cViewPr varScale="1">
        <p:scale>
          <a:sx n="76" d="100"/>
          <a:sy n="76" d="100"/>
        </p:scale>
        <p:origin x="71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2A6F-D033-48EA-9978-E8D94582911C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52D52-C247-427A-9A75-CFE3B4ADCA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72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b="0" dirty="0"/>
              <a:t>Data mining involves extracting meaningful patterns from large datasets using a blend of statistics, machine learning, and database systems. The data mining process turns raw data into actionable insights, aiding decision-making in fields such as marketing, finance, healthcare, and retail.</a:t>
            </a:r>
            <a:endParaRPr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1200" b="0" dirty="0">
                <a:latin typeface="Amasis MT Pro Light" panose="02040304050005020304" pitchFamily="18" charset="0"/>
              </a:rPr>
              <a:t>More products are becoming digital, as are more payment transactions and customer interactions. As this happens, more companies are finding that their data, often already stored in a data warehouse waiting to be analyzed, is just as valuable as their products and services. In this context, data mining gives companies a competitive edge by helping to rapidly find business insights hidden in all the data from all those digital business transactions. The benefits are almost endless. </a:t>
            </a:r>
            <a:endParaRPr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logo_Widescreen_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143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019522" y="3787750"/>
            <a:ext cx="6258076" cy="1687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38653" y="1583982"/>
            <a:ext cx="6258076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7333" baseline="0">
                <a:solidFill>
                  <a:srgbClr val="533F7E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1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32858"/>
            <a:ext cx="10972800" cy="4296457"/>
          </a:xfrm>
          <a:prstGeom prst="rect">
            <a:avLst/>
          </a:prstGeom>
        </p:spPr>
        <p:txBody>
          <a:bodyPr/>
          <a:lstStyle>
            <a:lvl1pPr>
              <a:defRPr sz="4267">
                <a:latin typeface=""/>
              </a:defRPr>
            </a:lvl1pPr>
            <a:lvl2pPr>
              <a:defRPr sz="3733">
                <a:latin typeface=""/>
              </a:defRPr>
            </a:lvl2pPr>
            <a:lvl3pPr>
              <a:defRPr sz="3200">
                <a:latin typeface=""/>
              </a:defRPr>
            </a:lvl3pPr>
            <a:lvl4pPr>
              <a:defRPr sz="2667">
                <a:latin typeface=""/>
              </a:defRPr>
            </a:lvl4pPr>
            <a:lvl5pPr>
              <a:defRPr sz="2667">
                <a:latin typeface=""/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45443"/>
            <a:ext cx="10972800" cy="969467"/>
          </a:xfrm>
        </p:spPr>
        <p:txBody>
          <a:bodyPr anchor="b">
            <a:normAutofit/>
          </a:bodyPr>
          <a:lstStyle>
            <a:lvl1pPr algn="l">
              <a:defRPr sz="5867" b="0" i="0" baseline="0">
                <a:solidFill>
                  <a:srgbClr val="533F7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8132"/>
            <a:ext cx="10972800" cy="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5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45443"/>
            <a:ext cx="10972800" cy="969467"/>
          </a:xfrm>
        </p:spPr>
        <p:txBody>
          <a:bodyPr anchor="b">
            <a:normAutofit/>
          </a:bodyPr>
          <a:lstStyle>
            <a:lvl1pPr algn="l">
              <a:defRPr sz="5867" b="0" i="0" baseline="0">
                <a:solidFill>
                  <a:srgbClr val="533F7E"/>
                </a:solidFill>
                <a:latin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132074"/>
            <a:ext cx="10972800" cy="387263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632858"/>
            <a:ext cx="10972800" cy="4296457"/>
          </a:xfrm>
          <a:prstGeom prst="rect">
            <a:avLst/>
          </a:prstGeom>
        </p:spPr>
        <p:txBody>
          <a:bodyPr/>
          <a:lstStyle>
            <a:lvl1pPr>
              <a:defRPr sz="4267">
                <a:latin typeface=""/>
              </a:defRPr>
            </a:lvl1pPr>
            <a:lvl2pPr>
              <a:defRPr sz="3733">
                <a:latin typeface=""/>
              </a:defRPr>
            </a:lvl2pPr>
            <a:lvl3pPr>
              <a:defRPr sz="3200">
                <a:latin typeface=""/>
              </a:defRPr>
            </a:lvl3pPr>
            <a:lvl4pPr>
              <a:defRPr sz="2667">
                <a:latin typeface=""/>
              </a:defRPr>
            </a:lvl4pPr>
            <a:lvl5pPr>
              <a:defRPr sz="2667">
                <a:latin typeface=""/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43526"/>
            <a:ext cx="10972800" cy="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6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3796" y="6365218"/>
            <a:ext cx="2844800" cy="365125"/>
          </a:xfrm>
        </p:spPr>
        <p:txBody>
          <a:bodyPr/>
          <a:lstStyle>
            <a:lvl1pPr algn="l">
              <a:defRPr/>
            </a:lvl1pPr>
          </a:lstStyle>
          <a:p>
            <a:fld id="{8E169101-80F2-4366-BE8F-D1922AF591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5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 marL="0" algn="l" defTabSz="609585" rtl="0" eaLnBrk="0" fontAlgn="base" latinLnBrk="0" hangingPunct="0">
              <a:spcBef>
                <a:spcPct val="0"/>
              </a:spcBef>
              <a:spcAft>
                <a:spcPct val="0"/>
              </a:spcAft>
              <a:defRPr lang="en-US" sz="5867" b="0" i="0" kern="1200" baseline="0" dirty="0">
                <a:solidFill>
                  <a:srgbClr val="533F7E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733">
                <a:latin typeface="Arial"/>
              </a:defRPr>
            </a:lvl1pPr>
            <a:lvl2pPr>
              <a:defRPr sz="3200">
                <a:latin typeface="Arial"/>
              </a:defRPr>
            </a:lvl2pPr>
            <a:lvl3pPr>
              <a:defRPr sz="2667">
                <a:latin typeface="Arial"/>
              </a:defRPr>
            </a:lvl3pPr>
            <a:lvl4pPr>
              <a:defRPr sz="2400">
                <a:latin typeface="Arial"/>
              </a:defRPr>
            </a:lvl4pPr>
            <a:lvl5pPr>
              <a:defRPr sz="2400">
                <a:latin typeface="Arial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733">
                <a:latin typeface="Arial"/>
              </a:defRPr>
            </a:lvl1pPr>
            <a:lvl2pPr>
              <a:defRPr sz="3200">
                <a:latin typeface="Arial"/>
              </a:defRPr>
            </a:lvl2pPr>
            <a:lvl3pPr>
              <a:defRPr sz="2667">
                <a:latin typeface="Arial"/>
              </a:defRPr>
            </a:lvl3pPr>
            <a:lvl4pPr>
              <a:defRPr sz="2400">
                <a:latin typeface="Arial"/>
              </a:defRPr>
            </a:lvl4pPr>
            <a:lvl5pPr>
              <a:defRPr sz="2400">
                <a:latin typeface="Arial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8132"/>
            <a:ext cx="10972800" cy="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9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"/>
              </a:defRPr>
            </a:lvl1pPr>
            <a:lvl2pPr>
              <a:defRPr sz="2667">
                <a:latin typeface=""/>
              </a:defRPr>
            </a:lvl2pPr>
            <a:lvl3pPr>
              <a:defRPr sz="2400">
                <a:latin typeface=""/>
              </a:defRPr>
            </a:lvl3pPr>
            <a:lvl4pPr>
              <a:defRPr sz="2133">
                <a:latin typeface=""/>
              </a:defRPr>
            </a:lvl4pPr>
            <a:lvl5pPr>
              <a:defRPr sz="2133">
                <a:latin typeface="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>
                <a:latin typeface="Arial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667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133">
                <a:latin typeface="Arial"/>
              </a:defRPr>
            </a:lvl4pPr>
            <a:lvl5pPr>
              <a:defRPr sz="2133">
                <a:latin typeface="Arial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8132"/>
            <a:ext cx="10972800" cy="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8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_logo_Widescreen_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143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19523" y="2564887"/>
            <a:ext cx="6258076" cy="13882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7333" baseline="0">
                <a:solidFill>
                  <a:srgbClr val="533F7E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33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783404" y="6356351"/>
            <a:ext cx="2844800" cy="365125"/>
          </a:xfrm>
        </p:spPr>
        <p:txBody>
          <a:bodyPr/>
          <a:lstStyle/>
          <a:p>
            <a:fld id="{00595005-D898-47F7-828F-CD63C4D0BC0B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99257" y="6356351"/>
            <a:ext cx="2844800" cy="365125"/>
          </a:xfrm>
        </p:spPr>
        <p:txBody>
          <a:bodyPr/>
          <a:lstStyle>
            <a:lvl1pPr algn="l">
              <a:defRPr/>
            </a:lvl1pPr>
          </a:lstStyle>
          <a:p>
            <a:fld id="{8E169101-80F2-4366-BE8F-D1922AF591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3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t_logo_Widescreen_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7">
                <a:latin typeface="Arial"/>
              </a:defRPr>
            </a:lvl1pPr>
            <a:lvl2pPr>
              <a:defRPr sz="3733">
                <a:latin typeface="Arial"/>
              </a:defRPr>
            </a:lvl2pPr>
            <a:lvl3pPr>
              <a:defRPr sz="3200">
                <a:latin typeface="Arial"/>
              </a:defRPr>
            </a:lvl3pPr>
            <a:lvl4pPr>
              <a:defRPr sz="2667">
                <a:latin typeface="Arial"/>
              </a:defRPr>
            </a:lvl4pPr>
            <a:lvl5pPr>
              <a:defRPr sz="2667">
                <a:latin typeface="Arial"/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latin typeface="Arial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5642705-0869-5E41-BF54-4C6A6B6F7BB4}" type="slidenum">
              <a:rPr lang="en-US" sz="1600" smtClean="0">
                <a:latin typeface="Arial"/>
              </a:rPr>
              <a:pPr>
                <a:defRPr/>
              </a:pPr>
              <a:t>‹#›</a:t>
            </a:fld>
            <a:endParaRPr lang="en-US" sz="16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8516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95005-D898-47F7-828F-CD63C4D0BC0B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69101-80F2-4366-BE8F-D1922AF591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ppt_seal_Widescreen_3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8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44485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95005-D898-47F7-828F-CD63C4D0BC0B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69101-80F2-4366-BE8F-D1922AF591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ctr" defTabSz="609585" rtl="0" eaLnBrk="1" latinLnBrk="0" hangingPunct="1">
        <a:spcBef>
          <a:spcPct val="0"/>
        </a:spcBef>
        <a:buNone/>
        <a:defRPr lang="en-US" sz="5867" b="0" i="0" kern="1200" baseline="0" dirty="0">
          <a:solidFill>
            <a:srgbClr val="533F7E"/>
          </a:solidFill>
          <a:latin typeface="Arial"/>
          <a:ea typeface="ＭＳ Ｐゴシック" charset="0"/>
          <a:cs typeface="ＭＳ Ｐゴシック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rgbClr val="3B413F"/>
          </a:solidFill>
          <a:latin typeface="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rgbClr val="3B413F"/>
          </a:solidFill>
          <a:latin typeface="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B413F"/>
          </a:solidFill>
          <a:latin typeface="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rgbClr val="3B413F"/>
          </a:solidFill>
          <a:latin typeface="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rgbClr val="3B413F"/>
          </a:solidFill>
          <a:latin typeface="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090E-DE57-4606-AA86-BC4C9558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58225"/>
            <a:ext cx="4011084" cy="2152910"/>
          </a:xfrm>
        </p:spPr>
        <p:txBody>
          <a:bodyPr wrap="square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Amasis MT Pro Black" panose="020F0502020204030204" pitchFamily="18" charset="0"/>
              </a:rPr>
              <a:t>Understanding Data Mining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A91B5-7AAB-4653-8A9F-0ED055E8B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3890864"/>
            <a:ext cx="3831771" cy="2008911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masis MT Pro Black" panose="02040A04050005020304" pitchFamily="18" charset="0"/>
              </a:rPr>
              <a:t>A Beginner’s Guide</a:t>
            </a:r>
          </a:p>
          <a:p>
            <a:pPr marL="0" indent="0" algn="r">
              <a:buNone/>
            </a:pPr>
            <a:endParaRPr lang="en-US" sz="2000" b="1" dirty="0">
              <a:solidFill>
                <a:srgbClr val="00B050"/>
              </a:solidFill>
              <a:latin typeface="Amasis MT Pro Black" panose="02040A04050005020304" pitchFamily="18" charset="0"/>
            </a:endParaRPr>
          </a:p>
          <a:p>
            <a:pPr marL="0" indent="0" algn="r">
              <a:buNone/>
            </a:pPr>
            <a:r>
              <a:rPr lang="en-US" sz="2000" b="1" dirty="0">
                <a:solidFill>
                  <a:srgbClr val="00B050"/>
                </a:solidFill>
                <a:latin typeface="Amasis MT Pro Black" panose="02040A04050005020304" pitchFamily="18" charset="0"/>
              </a:rPr>
              <a:t>- Manoj Kumar Kola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0BA20-7E20-05E6-53BC-6FEBBFAC4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612" y="1165125"/>
            <a:ext cx="6652837" cy="43971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B18C28-6012-2920-4415-7184AB643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533" y="5066524"/>
            <a:ext cx="538165" cy="35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1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Definition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E492D5-203F-ADC3-57A0-0DB5FE15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16825"/>
            <a:ext cx="5766616" cy="2940974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4C5957-07E8-4612-8BAC-1488BB3BF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900" b="1" dirty="0">
                <a:latin typeface="Amasis MT Pro Light" panose="02040304050005020304" pitchFamily="18" charset="0"/>
              </a:rPr>
              <a:t>Data mining is a collection of technologies, processes and analytical approaches brought together to discover insights in business data that can be used to make better decisions.</a:t>
            </a:r>
          </a:p>
          <a:p>
            <a:pPr>
              <a:lnSpc>
                <a:spcPct val="140000"/>
              </a:lnSpc>
            </a:pPr>
            <a:r>
              <a:rPr lang="en-US" sz="1900" b="1" dirty="0">
                <a:latin typeface="Amasis MT Pro Light" panose="02040304050005020304" pitchFamily="18" charset="0"/>
              </a:rPr>
              <a:t>Data mining is the process of discovering patterns, trends, and insights in large datasets.</a:t>
            </a:r>
          </a:p>
          <a:p>
            <a:pPr>
              <a:lnSpc>
                <a:spcPct val="140000"/>
              </a:lnSpc>
            </a:pPr>
            <a:r>
              <a:rPr lang="en-US" sz="1900" b="1" dirty="0">
                <a:latin typeface="Amasis MT Pro Light" panose="02040304050005020304" pitchFamily="18" charset="0"/>
              </a:rPr>
              <a:t>It's like digging through mountains of data to find valuable gem.</a:t>
            </a:r>
          </a:p>
          <a:p>
            <a:pPr>
              <a:lnSpc>
                <a:spcPct val="140000"/>
              </a:lnSpc>
            </a:pPr>
            <a:r>
              <a:rPr lang="en-US" sz="1900" b="1" dirty="0">
                <a:latin typeface="Amasis MT Pro Light" panose="02040304050005020304" pitchFamily="18" charset="0"/>
              </a:rPr>
              <a:t>The information that can help with decisions, predictions, or understanding behaviors.</a:t>
            </a:r>
          </a:p>
          <a:p>
            <a:pPr>
              <a:lnSpc>
                <a:spcPct val="90000"/>
              </a:lnSpc>
            </a:pPr>
            <a:endParaRPr lang="en-US" sz="2600" b="1" dirty="0">
              <a:latin typeface="Amasis MT Pro Light" panose="020403040500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Why Data Mining is Important?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860C6D-1A04-9863-353B-11A0A447B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167256" cy="4525963"/>
          </a:xfrm>
        </p:spPr>
        <p:txBody>
          <a:bodyPr wrap="square" anchor="t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masis MT Pro Light" panose="02040304050005020304" pitchFamily="18" charset="0"/>
              </a:rPr>
              <a:t>Data mining gives companies a competitive edge by helping to rapidly find business insights hidden in all the data from all those digital business transactions.  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Understanding customer behaviors can lead to new product, service or marketing ideas. 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Detecting intrusions can prevent a devastating theft of customer data.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 Light" panose="02040304050005020304" pitchFamily="18" charset="0"/>
              </a:rPr>
              <a:t>Without Data Mining, valuable insights stay buried in the data we collect every day.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738EFC-6A47-6E8B-39E9-4C77DA93F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856" y="1715222"/>
            <a:ext cx="6045798" cy="40084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Steps of Data Mining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92B9B6-76EF-5155-8534-D39BED5C3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masis MT Pro Light" panose="02040304050005020304" pitchFamily="18" charset="0"/>
              </a:rPr>
              <a:t>Collect data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masis MT Pro Light" panose="02040304050005020304" pitchFamily="18" charset="0"/>
              </a:rPr>
              <a:t>Prepare and clean the data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masis MT Pro Light" panose="02040304050005020304" pitchFamily="18" charset="0"/>
              </a:rPr>
              <a:t>Explore the data (patterns, visuals)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masis MT Pro Light" panose="02040304050005020304" pitchFamily="18" charset="0"/>
              </a:rPr>
              <a:t>Apply models and algorithms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masis MT Pro Light" panose="02040304050005020304" pitchFamily="18" charset="0"/>
              </a:rPr>
              <a:t>Interpret the results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masis MT Pro Light" panose="02040304050005020304" pitchFamily="18" charset="0"/>
              </a:rPr>
              <a:t>Use insights to guide the actions</a:t>
            </a:r>
          </a:p>
          <a:p>
            <a:pPr>
              <a:lnSpc>
                <a:spcPct val="150000"/>
              </a:lnSpc>
            </a:pPr>
            <a:endParaRPr lang="en-US" sz="1800" b="1" dirty="0">
              <a:latin typeface="Amasis MT Pro Light" panose="020403040500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4707E-F518-2324-BC42-5585A0E51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938948"/>
            <a:ext cx="5384800" cy="34291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Data Mining Methods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02ADE1-5745-AF06-92C7-B093ABFA0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Amasis MT Pro Light" panose="02040304050005020304" pitchFamily="18" charset="0"/>
              </a:rPr>
              <a:t>Predictive Methods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767" b="1" dirty="0">
                <a:latin typeface="Amasis MT Pro Light" panose="02040304050005020304" pitchFamily="18" charset="0"/>
              </a:rPr>
              <a:t>Classification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767" b="1" dirty="0">
                <a:latin typeface="Amasis MT Pro Light" panose="02040304050005020304" pitchFamily="18" charset="0"/>
              </a:rPr>
              <a:t>Regression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Amasis MT Pro Light" panose="02040304050005020304" pitchFamily="18" charset="0"/>
              </a:rPr>
              <a:t>Descriptive Methods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767" b="1" dirty="0">
                <a:latin typeface="Amasis MT Pro Light" panose="02040304050005020304" pitchFamily="18" charset="0"/>
              </a:rPr>
              <a:t>Clustering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767" b="1" dirty="0">
                <a:latin typeface="Amasis MT Pro Light" panose="02040304050005020304" pitchFamily="18" charset="0"/>
              </a:rPr>
              <a:t>Association Rules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Amasis MT Pro Light" panose="02040304050005020304" pitchFamily="18" charset="0"/>
              </a:rPr>
              <a:t>Prediction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Amasis MT Pro Light" panose="02040304050005020304" pitchFamily="18" charset="0"/>
              </a:rPr>
              <a:t>Sequential Patterns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latin typeface="Amasis MT Pro Light" panose="02040304050005020304" pitchFamily="18" charset="0"/>
              </a:rPr>
              <a:t>Outlier Detection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30F3B-BDF1-3CDF-556B-88AD2A4AC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328" y="1428075"/>
            <a:ext cx="5288965" cy="4699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Tools Often used in Data Mining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C3BF9-2D5B-2AF7-B212-22F492D3B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latin typeface="Amasis MT Pro" panose="02040504050005020304" pitchFamily="18" charset="0"/>
              </a:rPr>
              <a:t>Python &amp; R: </a:t>
            </a:r>
            <a:r>
              <a:rPr lang="en-US" sz="2100" b="1" dirty="0">
                <a:latin typeface="Amasis MT Pro Light" panose="02040304050005020304" pitchFamily="18" charset="0"/>
              </a:rPr>
              <a:t>Used for advanced modeling, automation, and ML.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" panose="02040504050005020304" pitchFamily="18" charset="0"/>
              </a:rPr>
              <a:t>SQL:</a:t>
            </a:r>
            <a:r>
              <a:rPr lang="en-US" sz="2100" b="1" dirty="0">
                <a:latin typeface="Amasis MT Pro Light" panose="02040304050005020304" pitchFamily="18" charset="0"/>
              </a:rPr>
              <a:t> Used to extract or update data from databases.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" panose="02040504050005020304" pitchFamily="18" charset="0"/>
              </a:rPr>
              <a:t>Excel:</a:t>
            </a:r>
            <a:r>
              <a:rPr lang="en-US" sz="2100" b="1" dirty="0">
                <a:latin typeface="Amasis MT Pro Light" panose="02040304050005020304" pitchFamily="18" charset="0"/>
              </a:rPr>
              <a:t> Great for small datasets and initial exploration.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Amasis MT Pro" panose="02040504050005020304" pitchFamily="18" charset="0"/>
              </a:rPr>
              <a:t>Weka/RapidMiner:</a:t>
            </a:r>
            <a:r>
              <a:rPr lang="en-US" sz="2100" b="1" dirty="0">
                <a:latin typeface="Amasis MT Pro Light" panose="02040304050005020304" pitchFamily="18" charset="0"/>
              </a:rPr>
              <a:t> GUI-based tools for those who don’t want to code.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67E316-0540-BF19-B148-D1CA345E6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66" y="1660937"/>
            <a:ext cx="5384800" cy="39437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Ethical Considerations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7756F-FE29-8EAE-D4DD-44278427B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300" b="1" dirty="0">
                <a:latin typeface="Amasis MT Pro" panose="020F0502020204030204" pitchFamily="18" charset="0"/>
              </a:rPr>
              <a:t>Privacy:</a:t>
            </a:r>
            <a:r>
              <a:rPr lang="en-US" sz="2300" b="1" dirty="0">
                <a:latin typeface="Amasis MT Pro Light" panose="02040304050005020304" pitchFamily="18" charset="0"/>
              </a:rPr>
              <a:t> Respect users’ rights and protect their data.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300" b="1" dirty="0">
                <a:latin typeface="Amasis MT Pro" panose="02040504050005020304" pitchFamily="18" charset="0"/>
              </a:rPr>
              <a:t>Transparency:</a:t>
            </a:r>
            <a:r>
              <a:rPr lang="en-US" sz="2300" b="1" dirty="0">
                <a:latin typeface="Amasis MT Pro Light" panose="02040304050005020304" pitchFamily="18" charset="0"/>
              </a:rPr>
              <a:t> People should know how their data is used.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300" b="1" dirty="0">
                <a:latin typeface="Amasis MT Pro" panose="02040504050005020304" pitchFamily="18" charset="0"/>
              </a:rPr>
              <a:t>Fairness: </a:t>
            </a:r>
            <a:r>
              <a:rPr lang="en-US" sz="2300" b="1" dirty="0">
                <a:latin typeface="Amasis MT Pro Light" panose="02040304050005020304" pitchFamily="18" charset="0"/>
              </a:rPr>
              <a:t>Algorithms can accidentally introduce bias.</a:t>
            </a:r>
          </a:p>
        </p:txBody>
      </p:sp>
      <p:pic>
        <p:nvPicPr>
          <p:cNvPr id="5122" name="Picture 2" descr="Ethical Considerations in Product Management">
            <a:extLst>
              <a:ext uri="{FF2B5EF4-FFF2-40B4-BE49-F238E27FC236}">
                <a16:creationId xmlns:a16="http://schemas.microsoft.com/office/drawing/2014/main" id="{5F1E31DB-86DE-7060-2514-A764C6449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94172" y="1731981"/>
            <a:ext cx="5792624" cy="4163210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Challenges in Data Mining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7F3318-41E1-D5E6-73A6-9973E8173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 fontScale="70000" lnSpcReduction="20000"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3200" b="1" dirty="0">
                <a:latin typeface="Amasis MT Pro" panose="02040504050005020304" pitchFamily="18" charset="0"/>
              </a:rPr>
              <a:t>Data Quality:</a:t>
            </a:r>
            <a:r>
              <a:rPr lang="en-US" sz="3200" b="1" dirty="0">
                <a:latin typeface="Amasis MT Pro Light" panose="02040304050005020304" pitchFamily="18" charset="0"/>
              </a:rPr>
              <a:t> Incomplete or inaccurate data makes it hard to analyze.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3200" b="1" dirty="0">
                <a:latin typeface="Amasis MT Pro" panose="02040504050005020304" pitchFamily="18" charset="0"/>
              </a:rPr>
              <a:t>Model Validation:</a:t>
            </a:r>
            <a:r>
              <a:rPr lang="en-US" sz="3200" b="1" dirty="0">
                <a:latin typeface="Amasis MT Pro Light" panose="02040304050005020304" pitchFamily="18" charset="0"/>
              </a:rPr>
              <a:t> Not every method works for every problem.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3200" b="1" dirty="0">
                <a:latin typeface="Amasis MT Pro" panose="02040504050005020304" pitchFamily="18" charset="0"/>
              </a:rPr>
              <a:t>Interpretation:</a:t>
            </a:r>
            <a:r>
              <a:rPr lang="en-US" sz="3200" b="1" dirty="0">
                <a:latin typeface="Amasis MT Pro Light" panose="02040304050005020304" pitchFamily="18" charset="0"/>
              </a:rPr>
              <a:t> Models must produce results we can trust and explain.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3200" b="1" dirty="0">
                <a:latin typeface="Amasis MT Pro" panose="02040504050005020304" pitchFamily="18" charset="0"/>
              </a:rPr>
              <a:t>Privacy:</a:t>
            </a:r>
            <a:r>
              <a:rPr lang="en-US" sz="3200" b="1" dirty="0">
                <a:latin typeface="Amasis MT Pro Light" panose="02040304050005020304" pitchFamily="18" charset="0"/>
              </a:rPr>
              <a:t> Sensitive data must be handled carefully.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3200" b="1" dirty="0">
              <a:latin typeface="Amasis MT Pro Light" panose="020403040500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20D2D-18B0-08A7-E3DB-38292C917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82" y="1809337"/>
            <a:ext cx="5774218" cy="3741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 vert="horz" wrap="square" lIns="121900" tIns="121900" rIns="121900" bIns="121900" rtlCol="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masis MT Pro Black" panose="02040A04050005020304" pitchFamily="18" charset="0"/>
              </a:rPr>
              <a:t>Summary</a:t>
            </a:r>
            <a:endParaRPr lang="en" sz="4000" b="1" dirty="0">
              <a:latin typeface="Amasis MT Pro Black" panose="02040A04050005020304" pitchFamily="18" charset="0"/>
            </a:endParaRPr>
          </a:p>
        </p:txBody>
      </p:sp>
      <p:pic>
        <p:nvPicPr>
          <p:cNvPr id="8194" name="Picture 2" descr="Writing text showing Final Thoughts. Business concept for Conclusion  Summary Text Written on sticky note paper, wooden background marker folded  yellow Stock Photo - Alamy">
            <a:extLst>
              <a:ext uri="{FF2B5EF4-FFF2-40B4-BE49-F238E27FC236}">
                <a16:creationId xmlns:a16="http://schemas.microsoft.com/office/drawing/2014/main" id="{178AFB84-D816-D277-1639-2415D44B05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5" t="1" r="5075" b="9378"/>
          <a:stretch/>
        </p:blipFill>
        <p:spPr bwMode="auto">
          <a:xfrm>
            <a:off x="609600" y="1600202"/>
            <a:ext cx="5384800" cy="438105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FC20-D1EB-8851-F7DF-045EF1DB1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100" b="1" dirty="0">
                <a:latin typeface="Amasis MT Pro Light" panose="02040304050005020304" pitchFamily="18" charset="0"/>
              </a:rPr>
              <a:t>"Data mining turns information into insight. But we must use it wisely."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100" b="1" dirty="0">
                <a:latin typeface="Amasis MT Pro Light" panose="02040304050005020304" pitchFamily="18" charset="0"/>
              </a:rPr>
              <a:t>It’s an incredible tool to support smart decisions.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100" b="1" dirty="0">
                <a:latin typeface="Amasis MT Pro Light" panose="02040304050005020304" pitchFamily="18" charset="0"/>
              </a:rPr>
              <a:t>The power of data mining grows as data grows, but so does the responsibility.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sz="2100" b="1" dirty="0">
                <a:latin typeface="Amasis MT Pro Light" panose="02040304050005020304" pitchFamily="18" charset="0"/>
              </a:rPr>
              <a:t>Whether you're in business, healthcare, or government, using it ethically matters.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1B1D0-5EA2-E3ED-8A79-09D9907B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Finally…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CC63841-438C-BCC6-BBD6-374A74AC1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6254" y="1731981"/>
            <a:ext cx="6134034" cy="433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05553"/>
      </p:ext>
    </p:extLst>
  </p:cSld>
  <p:clrMapOvr>
    <a:masterClrMapping/>
  </p:clrMapOvr>
</p:sld>
</file>

<file path=ppt/theme/theme1.xml><?xml version="1.0" encoding="utf-8"?>
<a:theme xmlns:a="http://schemas.openxmlformats.org/drawingml/2006/main" name="Bellevue PowerPoint Template (1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Bellevue PowerPoint Template (1)</Template>
  <TotalTime>776</TotalTime>
  <Words>533</Words>
  <Application>Microsoft Office PowerPoint</Application>
  <PresentationFormat>Widescreen</PresentationFormat>
  <Paragraphs>54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Amasis MT Pro</vt:lpstr>
      <vt:lpstr>Amasis MT Pro Black</vt:lpstr>
      <vt:lpstr>Amasis MT Pro Light</vt:lpstr>
      <vt:lpstr>Arial</vt:lpstr>
      <vt:lpstr>Calibri</vt:lpstr>
      <vt:lpstr>Courier New</vt:lpstr>
      <vt:lpstr>Bellevue PowerPoint Template (1)</vt:lpstr>
      <vt:lpstr>Understanding Data Mining</vt:lpstr>
      <vt:lpstr>Definition</vt:lpstr>
      <vt:lpstr>Why Data Mining is Important?</vt:lpstr>
      <vt:lpstr>Steps of Data Mining</vt:lpstr>
      <vt:lpstr>Data Mining Methods</vt:lpstr>
      <vt:lpstr>Tools Often used in Data Mining</vt:lpstr>
      <vt:lpstr>Ethical Considerations</vt:lpstr>
      <vt:lpstr>Challenges in Data Mining</vt:lpstr>
      <vt:lpstr>Summary</vt:lpstr>
      <vt:lpstr>Finally…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 510</dc:title>
  <dc:creator>Mike Eller</dc:creator>
  <cp:lastModifiedBy>manojkumar kola</cp:lastModifiedBy>
  <cp:revision>103</cp:revision>
  <dcterms:created xsi:type="dcterms:W3CDTF">2018-12-26T19:06:20Z</dcterms:created>
  <dcterms:modified xsi:type="dcterms:W3CDTF">2025-05-19T03:35:04Z</dcterms:modified>
</cp:coreProperties>
</file>